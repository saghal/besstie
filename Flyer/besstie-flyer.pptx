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lancy" panose="020B0604020202020204" charset="0"/>
      <p:regular r:id="rId3"/>
    </p:embeddedFont>
    <p:embeddedFont>
      <p:font typeface="Clancy Bold" panose="020B0604020202020204" charset="0"/>
      <p:regular r:id="rId4"/>
    </p:embeddedFont>
    <p:embeddedFont>
      <p:font typeface="Clancy Light" panose="020B0604020202020204" charset="0"/>
      <p:regular r:id="rId5"/>
    </p:embeddedFont>
    <p:embeddedFont>
      <p:font typeface="Roboto" panose="02000000000000000000" pitchFamily="2" charset="0"/>
      <p:regular r:id="rId6"/>
      <p:bold r:id="rId7"/>
      <p:italic r:id="rId8"/>
      <p:boldItalic r:id="rId9"/>
    </p:embeddedFont>
    <p:embeddedFont>
      <p:font typeface="Roboto Bold" panose="02000000000000000000" pitchFamily="2" charset="0"/>
      <p:regular r:id="rId10"/>
      <p:bold r:id="rId11"/>
    </p:embeddedFont>
    <p:embeddedFont>
      <p:font typeface="Roboto Bold Italics" panose="020B0604020202020204" charset="0"/>
      <p:regular r:id="rId12"/>
    </p:embeddedFont>
    <p:embeddedFont>
      <p:font typeface="Roboto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E1F1D8-F498-BB40-E413-1692D8AEE3C2}" v="99" dt="2025-04-08T05:41:41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microsoft.com/office/2016/11/relationships/changesInfo" Target="changesInfos/changesInfo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viewProps" Target="viewProps.xml"/><Relationship Id="rId10" Type="http://schemas.openxmlformats.org/officeDocument/2006/relationships/font" Target="fonts/font8.fntdata"/><Relationship Id="rId19" Type="http://schemas.microsoft.com/office/2015/10/relationships/revisionInfo" Target="revisionInfo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nkar Srirag" userId="S::z5437514@ad.unsw.edu.au::a72f108d-e791-4429-aff3-a948048d34e3" providerId="AD" clId="Web-{B6E1F1D8-F498-BB40-E413-1692D8AEE3C2}"/>
    <pc:docChg chg="modSld">
      <pc:chgData name="Dipankar Srirag" userId="S::z5437514@ad.unsw.edu.au::a72f108d-e791-4429-aff3-a948048d34e3" providerId="AD" clId="Web-{B6E1F1D8-F498-BB40-E413-1692D8AEE3C2}" dt="2025-04-08T05:41:41.962" v="93" actId="1076"/>
      <pc:docMkLst>
        <pc:docMk/>
      </pc:docMkLst>
      <pc:sldChg chg="addSp delSp modSp">
        <pc:chgData name="Dipankar Srirag" userId="S::z5437514@ad.unsw.edu.au::a72f108d-e791-4429-aff3-a948048d34e3" providerId="AD" clId="Web-{B6E1F1D8-F498-BB40-E413-1692D8AEE3C2}" dt="2025-04-08T05:41:41.962" v="93" actId="1076"/>
        <pc:sldMkLst>
          <pc:docMk/>
          <pc:sldMk cId="0" sldId="256"/>
        </pc:sldMkLst>
        <pc:spChg chg="del topLvl">
          <ac:chgData name="Dipankar Srirag" userId="S::z5437514@ad.unsw.edu.au::a72f108d-e791-4429-aff3-a948048d34e3" providerId="AD" clId="Web-{B6E1F1D8-F498-BB40-E413-1692D8AEE3C2}" dt="2025-04-08T05:36:28.579" v="42"/>
          <ac:spMkLst>
            <pc:docMk/>
            <pc:sldMk cId="0" sldId="256"/>
            <ac:spMk id="4" creationId="{00000000-0000-0000-0000-000000000000}"/>
          </ac:spMkLst>
        </pc:spChg>
        <pc:spChg chg="del topLvl">
          <ac:chgData name="Dipankar Srirag" userId="S::z5437514@ad.unsw.edu.au::a72f108d-e791-4429-aff3-a948048d34e3" providerId="AD" clId="Web-{B6E1F1D8-F498-BB40-E413-1692D8AEE3C2}" dt="2025-04-08T05:36:23.969" v="41"/>
          <ac:spMkLst>
            <pc:docMk/>
            <pc:sldMk cId="0" sldId="256"/>
            <ac:spMk id="5" creationId="{00000000-0000-0000-0000-000000000000}"/>
          </ac:spMkLst>
        </pc:spChg>
        <pc:spChg chg="del mod topLvl">
          <ac:chgData name="Dipankar Srirag" userId="S::z5437514@ad.unsw.edu.au::a72f108d-e791-4429-aff3-a948048d34e3" providerId="AD" clId="Web-{B6E1F1D8-F498-BB40-E413-1692D8AEE3C2}" dt="2025-04-08T05:36:16.766" v="40"/>
          <ac:spMkLst>
            <pc:docMk/>
            <pc:sldMk cId="0" sldId="256"/>
            <ac:spMk id="8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9:40.850" v="81" actId="14100"/>
          <ac:spMkLst>
            <pc:docMk/>
            <pc:sldMk cId="0" sldId="256"/>
            <ac:spMk id="9" creationId="{00000000-0000-0000-0000-000000000000}"/>
          </ac:spMkLst>
        </pc:spChg>
        <pc:spChg chg="mod ord topLvl">
          <ac:chgData name="Dipankar Srirag" userId="S::z5437514@ad.unsw.edu.au::a72f108d-e791-4429-aff3-a948048d34e3" providerId="AD" clId="Web-{B6E1F1D8-F498-BB40-E413-1692D8AEE3C2}" dt="2025-04-08T05:36:37.985" v="44"/>
          <ac:spMkLst>
            <pc:docMk/>
            <pc:sldMk cId="0" sldId="256"/>
            <ac:spMk id="11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47.672" v="21"/>
          <ac:spMkLst>
            <pc:docMk/>
            <pc:sldMk cId="0" sldId="256"/>
            <ac:spMk id="12" creationId="{00000000-0000-0000-0000-000000000000}"/>
          </ac:spMkLst>
        </pc:spChg>
        <pc:spChg chg="del topLvl">
          <ac:chgData name="Dipankar Srirag" userId="S::z5437514@ad.unsw.edu.au::a72f108d-e791-4429-aff3-a948048d34e3" providerId="AD" clId="Web-{B6E1F1D8-F498-BB40-E413-1692D8AEE3C2}" dt="2025-04-08T05:35:55.406" v="31"/>
          <ac:spMkLst>
            <pc:docMk/>
            <pc:sldMk cId="0" sldId="256"/>
            <ac:spMk id="15" creationId="{00000000-0000-0000-0000-000000000000}"/>
          </ac:spMkLst>
        </pc:spChg>
        <pc:spChg chg="add del mod topLvl">
          <ac:chgData name="Dipankar Srirag" userId="S::z5437514@ad.unsw.edu.au::a72f108d-e791-4429-aff3-a948048d34e3" providerId="AD" clId="Web-{B6E1F1D8-F498-BB40-E413-1692D8AEE3C2}" dt="2025-04-08T05:38:35.629" v="74" actId="14100"/>
          <ac:spMkLst>
            <pc:docMk/>
            <pc:sldMk cId="0" sldId="256"/>
            <ac:spMk id="16" creationId="{00000000-0000-0000-0000-000000000000}"/>
          </ac:spMkLst>
        </pc:spChg>
        <pc:spChg chg="mod ord topLvl">
          <ac:chgData name="Dipankar Srirag" userId="S::z5437514@ad.unsw.edu.au::a72f108d-e791-4429-aff3-a948048d34e3" providerId="AD" clId="Web-{B6E1F1D8-F498-BB40-E413-1692D8AEE3C2}" dt="2025-04-08T05:35:49.265" v="25"/>
          <ac:spMkLst>
            <pc:docMk/>
            <pc:sldMk cId="0" sldId="256"/>
            <ac:spMk id="18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7:20.080" v="49" actId="14100"/>
          <ac:spMkLst>
            <pc:docMk/>
            <pc:sldMk cId="0" sldId="256"/>
            <ac:spMk id="19" creationId="{00000000-0000-0000-0000-000000000000}"/>
          </ac:spMkLst>
        </pc:spChg>
        <pc:spChg chg="mod">
          <ac:chgData name="Dipankar Srirag" userId="S::z5437514@ad.unsw.edu.au::a72f108d-e791-4429-aff3-a948048d34e3" providerId="AD" clId="Web-{B6E1F1D8-F498-BB40-E413-1692D8AEE3C2}" dt="2025-04-08T05:41:33.149" v="91" actId="14100"/>
          <ac:spMkLst>
            <pc:docMk/>
            <pc:sldMk cId="0" sldId="256"/>
            <ac:spMk id="20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49.656" v="26"/>
          <ac:spMkLst>
            <pc:docMk/>
            <pc:sldMk cId="0" sldId="256"/>
            <ac:spMk id="22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49.656" v="2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Dipankar Srirag" userId="S::z5437514@ad.unsw.edu.au::a72f108d-e791-4429-aff3-a948048d34e3" providerId="AD" clId="Web-{B6E1F1D8-F498-BB40-E413-1692D8AEE3C2}" dt="2025-04-08T05:41:41.962" v="93" actId="1076"/>
          <ac:spMkLst>
            <pc:docMk/>
            <pc:sldMk cId="0" sldId="256"/>
            <ac:spMk id="25" creationId="{00000000-0000-0000-0000-000000000000}"/>
          </ac:spMkLst>
        </pc:spChg>
        <pc:spChg chg="add del topLvl">
          <ac:chgData name="Dipankar Srirag" userId="S::z5437514@ad.unsw.edu.au::a72f108d-e791-4429-aff3-a948048d34e3" providerId="AD" clId="Web-{B6E1F1D8-F498-BB40-E413-1692D8AEE3C2}" dt="2025-04-08T05:37:02.814" v="47"/>
          <ac:spMkLst>
            <pc:docMk/>
            <pc:sldMk cId="0" sldId="256"/>
            <ac:spMk id="31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40:01.975" v="82" actId="14100"/>
          <ac:spMkLst>
            <pc:docMk/>
            <pc:sldMk cId="0" sldId="256"/>
            <ac:spMk id="32" creationId="{00000000-0000-0000-0000-000000000000}"/>
          </ac:spMkLst>
        </pc:spChg>
        <pc:spChg chg="mod">
          <ac:chgData name="Dipankar Srirag" userId="S::z5437514@ad.unsw.edu.au::a72f108d-e791-4429-aff3-a948048d34e3" providerId="AD" clId="Web-{B6E1F1D8-F498-BB40-E413-1692D8AEE3C2}" dt="2025-04-08T05:37:00.970" v="46" actId="1076"/>
          <ac:spMkLst>
            <pc:docMk/>
            <pc:sldMk cId="0" sldId="256"/>
            <ac:spMk id="33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48.062" v="22"/>
          <ac:spMkLst>
            <pc:docMk/>
            <pc:sldMk cId="0" sldId="256"/>
            <ac:spMk id="35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6:49.595" v="45" actId="14100"/>
          <ac:spMkLst>
            <pc:docMk/>
            <pc:sldMk cId="0" sldId="256"/>
            <ac:spMk id="36" creationId="{00000000-0000-0000-0000-000000000000}"/>
          </ac:spMkLst>
        </pc:spChg>
        <pc:spChg chg="del mod topLvl">
          <ac:chgData name="Dipankar Srirag" userId="S::z5437514@ad.unsw.edu.au::a72f108d-e791-4429-aff3-a948048d34e3" providerId="AD" clId="Web-{B6E1F1D8-F498-BB40-E413-1692D8AEE3C2}" dt="2025-04-08T05:39:01.364" v="78"/>
          <ac:spMkLst>
            <pc:docMk/>
            <pc:sldMk cId="0" sldId="256"/>
            <ac:spMk id="38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9:09.974" v="79" actId="14100"/>
          <ac:spMkLst>
            <pc:docMk/>
            <pc:sldMk cId="0" sldId="256"/>
            <ac:spMk id="39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8:51.161" v="76" actId="14100"/>
          <ac:spMkLst>
            <pc:docMk/>
            <pc:sldMk cId="0" sldId="256"/>
            <ac:spMk id="45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8:57.036" v="77" actId="14100"/>
          <ac:spMkLst>
            <pc:docMk/>
            <pc:sldMk cId="0" sldId="256"/>
            <ac:spMk id="46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51.156" v="30"/>
          <ac:spMkLst>
            <pc:docMk/>
            <pc:sldMk cId="0" sldId="256"/>
            <ac:spMk id="48" creationId="{00000000-0000-0000-0000-000000000000}"/>
          </ac:spMkLst>
        </pc:spChg>
        <pc:spChg chg="mod topLvl">
          <ac:chgData name="Dipankar Srirag" userId="S::z5437514@ad.unsw.edu.au::a72f108d-e791-4429-aff3-a948048d34e3" providerId="AD" clId="Web-{B6E1F1D8-F498-BB40-E413-1692D8AEE3C2}" dt="2025-04-08T05:39:24.380" v="80" actId="14100"/>
          <ac:spMkLst>
            <pc:docMk/>
            <pc:sldMk cId="0" sldId="256"/>
            <ac:spMk id="49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50.344" v="28"/>
          <ac:spMkLst>
            <pc:docMk/>
            <pc:sldMk cId="0" sldId="256"/>
            <ac:spMk id="55" creationId="{00000000-0000-0000-0000-000000000000}"/>
          </ac:spMkLst>
        </pc:spChg>
        <pc:spChg chg="topLvl">
          <ac:chgData name="Dipankar Srirag" userId="S::z5437514@ad.unsw.edu.au::a72f108d-e791-4429-aff3-a948048d34e3" providerId="AD" clId="Web-{B6E1F1D8-F498-BB40-E413-1692D8AEE3C2}" dt="2025-04-08T05:35:50.344" v="28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ipankar Srirag" userId="S::z5437514@ad.unsw.edu.au::a72f108d-e791-4429-aff3-a948048d34e3" providerId="AD" clId="Web-{B6E1F1D8-F498-BB40-E413-1692D8AEE3C2}" dt="2025-04-08T05:37:11.658" v="48" actId="1076"/>
          <ac:spMkLst>
            <pc:docMk/>
            <pc:sldMk cId="0" sldId="256"/>
            <ac:spMk id="67" creationId="{00000000-0000-0000-0000-000000000000}"/>
          </ac:spMkLst>
        </pc:spChg>
        <pc:grpChg chg="del">
          <ac:chgData name="Dipankar Srirag" userId="S::z5437514@ad.unsw.edu.au::a72f108d-e791-4429-aff3-a948048d34e3" providerId="AD" clId="Web-{B6E1F1D8-F498-BB40-E413-1692D8AEE3C2}" dt="2025-04-08T05:35:46.798" v="19"/>
          <ac:grpSpMkLst>
            <pc:docMk/>
            <pc:sldMk cId="0" sldId="256"/>
            <ac:grpSpMk id="3" creationId="{00000000-0000-0000-0000-000000000000}"/>
          </ac:grpSpMkLst>
        </pc:grpChg>
        <pc:grpChg chg="add del">
          <ac:chgData name="Dipankar Srirag" userId="S::z5437514@ad.unsw.edu.au::a72f108d-e791-4429-aff3-a948048d34e3" providerId="AD" clId="Web-{B6E1F1D8-F498-BB40-E413-1692D8AEE3C2}" dt="2025-04-08T05:35:47.297" v="20"/>
          <ac:grpSpMkLst>
            <pc:docMk/>
            <pc:sldMk cId="0" sldId="256"/>
            <ac:grpSpMk id="7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47.672" v="21"/>
          <ac:grpSpMkLst>
            <pc:docMk/>
            <pc:sldMk cId="0" sldId="256"/>
            <ac:grpSpMk id="10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48.875" v="24"/>
          <ac:grpSpMkLst>
            <pc:docMk/>
            <pc:sldMk cId="0" sldId="256"/>
            <ac:grpSpMk id="14" creationId="{00000000-0000-0000-0000-000000000000}"/>
          </ac:grpSpMkLst>
        </pc:grpChg>
        <pc:grpChg chg="del mod">
          <ac:chgData name="Dipankar Srirag" userId="S::z5437514@ad.unsw.edu.au::a72f108d-e791-4429-aff3-a948048d34e3" providerId="AD" clId="Web-{B6E1F1D8-F498-BB40-E413-1692D8AEE3C2}" dt="2025-04-08T05:35:49.265" v="25"/>
          <ac:grpSpMkLst>
            <pc:docMk/>
            <pc:sldMk cId="0" sldId="256"/>
            <ac:grpSpMk id="17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49.656" v="26"/>
          <ac:grpSpMkLst>
            <pc:docMk/>
            <pc:sldMk cId="0" sldId="256"/>
            <ac:grpSpMk id="21" creationId="{00000000-0000-0000-0000-000000000000}"/>
          </ac:grpSpMkLst>
        </pc:grpChg>
        <pc:grpChg chg="del mod">
          <ac:chgData name="Dipankar Srirag" userId="S::z5437514@ad.unsw.edu.au::a72f108d-e791-4429-aff3-a948048d34e3" providerId="AD" clId="Web-{B6E1F1D8-F498-BB40-E413-1692D8AEE3C2}" dt="2025-04-08T05:35:48.437" v="23"/>
          <ac:grpSpMkLst>
            <pc:docMk/>
            <pc:sldMk cId="0" sldId="256"/>
            <ac:grpSpMk id="30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48.062" v="22"/>
          <ac:grpSpMkLst>
            <pc:docMk/>
            <pc:sldMk cId="0" sldId="256"/>
            <ac:grpSpMk id="34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50.734" v="29"/>
          <ac:grpSpMkLst>
            <pc:docMk/>
            <pc:sldMk cId="0" sldId="256"/>
            <ac:grpSpMk id="37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50" v="27"/>
          <ac:grpSpMkLst>
            <pc:docMk/>
            <pc:sldMk cId="0" sldId="256"/>
            <ac:grpSpMk id="44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51.156" v="30"/>
          <ac:grpSpMkLst>
            <pc:docMk/>
            <pc:sldMk cId="0" sldId="256"/>
            <ac:grpSpMk id="47" creationId="{00000000-0000-0000-0000-000000000000}"/>
          </ac:grpSpMkLst>
        </pc:grpChg>
        <pc:grpChg chg="del">
          <ac:chgData name="Dipankar Srirag" userId="S::z5437514@ad.unsw.edu.au::a72f108d-e791-4429-aff3-a948048d34e3" providerId="AD" clId="Web-{B6E1F1D8-F498-BB40-E413-1692D8AEE3C2}" dt="2025-04-08T05:35:50.344" v="28"/>
          <ac:grpSpMkLst>
            <pc:docMk/>
            <pc:sldMk cId="0" sldId="256"/>
            <ac:grpSpMk id="5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hyperlink" Target="https://arxiv.org/abs/2412.0472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7565861" cy="819950"/>
          </a:xfrm>
          <a:custGeom>
            <a:avLst/>
            <a:gdLst/>
            <a:ahLst/>
            <a:cxnLst/>
            <a:rect l="l" t="t" r="r" b="b"/>
            <a:pathLst>
              <a:path w="659658" h="293852">
                <a:moveTo>
                  <a:pt x="0" y="0"/>
                </a:moveTo>
                <a:lnTo>
                  <a:pt x="659658" y="0"/>
                </a:lnTo>
                <a:lnTo>
                  <a:pt x="659658" y="293852"/>
                </a:lnTo>
                <a:lnTo>
                  <a:pt x="0" y="293852"/>
                </a:lnTo>
                <a:close/>
              </a:path>
            </a:pathLst>
          </a:custGeom>
          <a:solidFill>
            <a:srgbClr val="FFDC00"/>
          </a:solidFill>
        </p:spPr>
      </p:sp>
      <p:sp>
        <p:nvSpPr>
          <p:cNvPr id="2" name="Freeform 2"/>
          <p:cNvSpPr/>
          <p:nvPr/>
        </p:nvSpPr>
        <p:spPr>
          <a:xfrm>
            <a:off x="6777874" y="9891228"/>
            <a:ext cx="756000" cy="756000"/>
          </a:xfrm>
          <a:custGeom>
            <a:avLst/>
            <a:gdLst/>
            <a:ahLst/>
            <a:cxnLst/>
            <a:rect l="l" t="t" r="r" b="b"/>
            <a:pathLst>
              <a:path w="756000" h="756000">
                <a:moveTo>
                  <a:pt x="0" y="0"/>
                </a:moveTo>
                <a:lnTo>
                  <a:pt x="756000" y="0"/>
                </a:lnTo>
                <a:lnTo>
                  <a:pt x="756000" y="756000"/>
                </a:lnTo>
                <a:lnTo>
                  <a:pt x="0" y="75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802341" y="172807"/>
            <a:ext cx="1674807" cy="474466"/>
          </a:xfrm>
          <a:custGeom>
            <a:avLst/>
            <a:gdLst/>
            <a:ahLst/>
            <a:cxnLst/>
            <a:rect l="l" t="t" r="r" b="b"/>
            <a:pathLst>
              <a:path w="1674807" h="474466">
                <a:moveTo>
                  <a:pt x="0" y="0"/>
                </a:moveTo>
                <a:lnTo>
                  <a:pt x="1674808" y="0"/>
                </a:lnTo>
                <a:lnTo>
                  <a:pt x="1674808" y="474466"/>
                </a:lnTo>
                <a:lnTo>
                  <a:pt x="0" y="47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11" b="-972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831228" y="-3386"/>
            <a:ext cx="3879216" cy="8233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</a:pPr>
            <a:r>
              <a:rPr lang="en-US" sz="1799" b="1" dirty="0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English comes in different </a:t>
            </a:r>
            <a:r>
              <a:rPr lang="en-US" sz="1799" b="1" dirty="0" err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flavours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Clancy Light"/>
                <a:ea typeface="Clancy Light"/>
                <a:cs typeface="Clancy Light"/>
                <a:sym typeface="Clancy Light"/>
              </a:rPr>
              <a:t>Does your LLM understand them?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0" y="-132890"/>
            <a:ext cx="1840680" cy="95284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298438" y="149660"/>
            <a:ext cx="1243804" cy="520630"/>
          </a:xfrm>
          <a:custGeom>
            <a:avLst/>
            <a:gdLst/>
            <a:ahLst/>
            <a:cxnLst/>
            <a:rect l="l" t="t" r="r" b="b"/>
            <a:pathLst>
              <a:path w="1243804" h="520630">
                <a:moveTo>
                  <a:pt x="0" y="0"/>
                </a:moveTo>
                <a:lnTo>
                  <a:pt x="1243804" y="0"/>
                </a:lnTo>
                <a:lnTo>
                  <a:pt x="1243804" y="520630"/>
                </a:lnTo>
                <a:lnTo>
                  <a:pt x="0" y="520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775237" y="3373640"/>
            <a:ext cx="3789443" cy="193498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Dataset Statistics</a:t>
            </a:r>
          </a:p>
        </p:txBody>
      </p:sp>
      <p:sp>
        <p:nvSpPr>
          <p:cNvPr id="18" name="Freeform 18"/>
          <p:cNvSpPr/>
          <p:nvPr/>
        </p:nvSpPr>
        <p:spPr>
          <a:xfrm>
            <a:off x="0" y="3368948"/>
            <a:ext cx="3780000" cy="1939782"/>
          </a:xfrm>
          <a:custGeom>
            <a:avLst/>
            <a:gdLst/>
            <a:ahLst/>
            <a:cxnLst/>
            <a:rect l="l" t="t" r="r" b="b"/>
            <a:pathLst>
              <a:path w="1354667" h="695174">
                <a:moveTo>
                  <a:pt x="0" y="0"/>
                </a:moveTo>
                <a:lnTo>
                  <a:pt x="1354667" y="0"/>
                </a:lnTo>
                <a:lnTo>
                  <a:pt x="1354667" y="695174"/>
                </a:lnTo>
                <a:lnTo>
                  <a:pt x="0" y="695174"/>
                </a:lnTo>
                <a:close/>
              </a:path>
            </a:pathLst>
          </a:custGeom>
          <a:solidFill>
            <a:srgbClr val="FFDC00"/>
          </a:solidFill>
          <a:ln cap="sq">
            <a:noFill/>
            <a:prstDash val="solid"/>
            <a:miter/>
          </a:ln>
        </p:spPr>
      </p:sp>
      <p:sp>
        <p:nvSpPr>
          <p:cNvPr id="19" name="TextBox 19"/>
          <p:cNvSpPr txBox="1"/>
          <p:nvPr/>
        </p:nvSpPr>
        <p:spPr>
          <a:xfrm>
            <a:off x="0" y="3373639"/>
            <a:ext cx="3780000" cy="193509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Dataset Features</a:t>
            </a:r>
          </a:p>
        </p:txBody>
      </p:sp>
      <p:sp>
        <p:nvSpPr>
          <p:cNvPr id="20" name="AutoShape 20"/>
          <p:cNvSpPr/>
          <p:nvPr/>
        </p:nvSpPr>
        <p:spPr>
          <a:xfrm flipV="1">
            <a:off x="1836155" y="4415954"/>
            <a:ext cx="370349" cy="925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Freeform 22"/>
          <p:cNvSpPr/>
          <p:nvPr/>
        </p:nvSpPr>
        <p:spPr>
          <a:xfrm>
            <a:off x="748072" y="3854803"/>
            <a:ext cx="2374188" cy="486692"/>
          </a:xfrm>
          <a:custGeom>
            <a:avLst/>
            <a:gdLst/>
            <a:ahLst/>
            <a:cxnLst/>
            <a:rect l="l" t="t" r="r" b="b"/>
            <a:pathLst>
              <a:path w="850856" h="174419">
                <a:moveTo>
                  <a:pt x="0" y="0"/>
                </a:moveTo>
                <a:lnTo>
                  <a:pt x="850856" y="0"/>
                </a:lnTo>
                <a:lnTo>
                  <a:pt x="850856" y="174419"/>
                </a:lnTo>
                <a:lnTo>
                  <a:pt x="0" y="17441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23" name="TextBox 23"/>
          <p:cNvSpPr txBox="1"/>
          <p:nvPr/>
        </p:nvSpPr>
        <p:spPr>
          <a:xfrm>
            <a:off x="748072" y="3881381"/>
            <a:ext cx="2374191" cy="460114"/>
          </a:xfrm>
          <a:prstGeom prst="rect">
            <a:avLst/>
          </a:prstGeom>
        </p:spPr>
        <p:txBody>
          <a:bodyPr lIns="38100" tIns="38100" rIns="38100" bIns="38100" rtlCol="0" anchor="ctr"/>
          <a:lstStyle/>
          <a:p>
            <a:pPr algn="r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Inner</a:t>
            </a:r>
          </a:p>
          <a:p>
            <a:pPr algn="r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circle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7737" y="3689438"/>
            <a:ext cx="1685844" cy="16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1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  <a:r>
              <a:rPr lang="en-US" sz="1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9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varieties </a:t>
            </a:r>
            <a:r>
              <a:rPr lang="en-US" sz="11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of English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43495" y="4352556"/>
            <a:ext cx="878767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Outer-circle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4072" y="3845826"/>
            <a:ext cx="1576834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Australian (en-AU)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British (en-UK)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4072" y="4352556"/>
            <a:ext cx="1052079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  <a:spcBef>
                <a:spcPct val="0"/>
              </a:spcBef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Indian (en-IN)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7737" y="4704786"/>
            <a:ext cx="2184485" cy="154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"/>
              </a:lnSpc>
            </a:pPr>
            <a:r>
              <a:rPr lang="en-US" sz="119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Dataset</a:t>
            </a:r>
            <a:r>
              <a:rPr lang="en-US" sz="11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-US" sz="119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  <a:r>
              <a:rPr lang="en-US" sz="11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annotated labels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83244" y="4820872"/>
            <a:ext cx="943273" cy="430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92"/>
              </a:lnSpc>
            </a:pPr>
            <a:r>
              <a:rPr lang="en-US" sz="119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1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Sentiment</a:t>
            </a:r>
          </a:p>
          <a:p>
            <a:pPr algn="just">
              <a:lnSpc>
                <a:spcPts val="1792"/>
              </a:lnSpc>
            </a:pPr>
            <a:r>
              <a:rPr lang="en-US" sz="119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1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Sarcasm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0" y="1378921"/>
            <a:ext cx="7564680" cy="19988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How do we create the dataset?</a:t>
            </a:r>
          </a:p>
        </p:txBody>
      </p:sp>
      <p:sp>
        <p:nvSpPr>
          <p:cNvPr id="33" name="Freeform 33"/>
          <p:cNvSpPr/>
          <p:nvPr/>
        </p:nvSpPr>
        <p:spPr>
          <a:xfrm>
            <a:off x="1732276" y="1710601"/>
            <a:ext cx="4081641" cy="1658167"/>
          </a:xfrm>
          <a:custGeom>
            <a:avLst/>
            <a:gdLst/>
            <a:ahLst/>
            <a:cxnLst/>
            <a:rect l="l" t="t" r="r" b="b"/>
            <a:pathLst>
              <a:path w="4081641" h="1658167">
                <a:moveTo>
                  <a:pt x="0" y="0"/>
                </a:moveTo>
                <a:lnTo>
                  <a:pt x="4081640" y="0"/>
                </a:lnTo>
                <a:lnTo>
                  <a:pt x="4081640" y="1658167"/>
                </a:lnTo>
                <a:lnTo>
                  <a:pt x="0" y="1658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0" y="820080"/>
            <a:ext cx="7564677" cy="582354"/>
          </a:xfrm>
          <a:custGeom>
            <a:avLst/>
            <a:gdLst/>
            <a:ahLst/>
            <a:cxnLst/>
            <a:rect l="l" t="t" r="r" b="b"/>
            <a:pathLst>
              <a:path w="2711010" h="208703">
                <a:moveTo>
                  <a:pt x="0" y="0"/>
                </a:moveTo>
                <a:lnTo>
                  <a:pt x="2711010" y="0"/>
                </a:lnTo>
                <a:lnTo>
                  <a:pt x="2711010" y="208703"/>
                </a:lnTo>
                <a:lnTo>
                  <a:pt x="0" y="20870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</p:sp>
      <p:sp>
        <p:nvSpPr>
          <p:cNvPr id="36" name="TextBox 36"/>
          <p:cNvSpPr txBox="1"/>
          <p:nvPr/>
        </p:nvSpPr>
        <p:spPr>
          <a:xfrm>
            <a:off x="0" y="834022"/>
            <a:ext cx="7564680" cy="56841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</a:pPr>
            <a:r>
              <a:rPr lang="en-US" sz="1550" dirty="0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Try </a:t>
            </a:r>
            <a:r>
              <a:rPr lang="en-US" sz="1550" b="1" dirty="0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BESSTIE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A Benchmark for Sentiment and Sarcasm Classification for Varieties of English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0" y="6984537"/>
            <a:ext cx="7564680" cy="122695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lancy"/>
                <a:ea typeface="Clancy"/>
                <a:cs typeface="Clancy"/>
                <a:sym typeface="Clancy"/>
              </a:rPr>
              <a:t>Key Results for Future Research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6000" y="7323082"/>
            <a:ext cx="6048000" cy="782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Lower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model performance for </a:t>
            </a: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en-IN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variety.</a:t>
            </a:r>
          </a:p>
          <a:p>
            <a:pPr algn="l">
              <a:lnSpc>
                <a:spcPts val="1200"/>
              </a:lnSpc>
            </a:pPr>
            <a:endParaRPr lang="en-US"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Sarcasm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detection is a </a:t>
            </a: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harder task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than sentiment classification.</a:t>
            </a:r>
          </a:p>
          <a:p>
            <a:pPr algn="l">
              <a:lnSpc>
                <a:spcPts val="1200"/>
              </a:lnSpc>
            </a:pPr>
            <a:endParaRPr lang="en-US"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Error Analysis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200" i="1" u="sng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in the paper</a:t>
            </a:r>
            <a:r>
              <a:rPr lang="en-US" sz="1200" i="1">
                <a:solidFill>
                  <a:srgbClr val="000000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,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shows the need for </a:t>
            </a: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focused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solutions for each </a:t>
            </a:r>
            <a:r>
              <a:rPr lang="en-US" sz="12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variety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85059" y="7270427"/>
            <a:ext cx="253454" cy="25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  <a:spcBef>
                <a:spcPct val="0"/>
              </a:spcBef>
            </a:pPr>
            <a:r>
              <a:rPr lang="en-US" sz="13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🥳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5059" y="7560165"/>
            <a:ext cx="253454" cy="25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  <a:spcBef>
                <a:spcPct val="0"/>
              </a:spcBef>
            </a:pPr>
            <a:r>
              <a:rPr lang="en-US" sz="13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🥳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5059" y="7854398"/>
            <a:ext cx="253454" cy="25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  <a:spcBef>
                <a:spcPct val="0"/>
              </a:spcBef>
            </a:pPr>
            <a:r>
              <a:rPr lang="en-US" sz="139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🥳 </a:t>
            </a:r>
          </a:p>
        </p:txBody>
      </p:sp>
      <p:sp>
        <p:nvSpPr>
          <p:cNvPr id="45" name="Freeform 45"/>
          <p:cNvSpPr/>
          <p:nvPr/>
        </p:nvSpPr>
        <p:spPr>
          <a:xfrm>
            <a:off x="0" y="5308730"/>
            <a:ext cx="7564677" cy="1671116"/>
          </a:xfrm>
          <a:custGeom>
            <a:avLst/>
            <a:gdLst/>
            <a:ahLst/>
            <a:cxnLst/>
            <a:rect l="l" t="t" r="r" b="b"/>
            <a:pathLst>
              <a:path w="2711010" h="598890">
                <a:moveTo>
                  <a:pt x="0" y="0"/>
                </a:moveTo>
                <a:lnTo>
                  <a:pt x="2711010" y="0"/>
                </a:lnTo>
                <a:lnTo>
                  <a:pt x="2711010" y="598890"/>
                </a:lnTo>
                <a:lnTo>
                  <a:pt x="0" y="598890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</p:sp>
      <p:sp>
        <p:nvSpPr>
          <p:cNvPr id="46" name="TextBox 46"/>
          <p:cNvSpPr txBox="1"/>
          <p:nvPr/>
        </p:nvSpPr>
        <p:spPr>
          <a:xfrm>
            <a:off x="0" y="5313421"/>
            <a:ext cx="7564680" cy="16664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dirty="0">
                <a:solidFill>
                  <a:srgbClr val="FFFFFF"/>
                </a:solidFill>
                <a:latin typeface="Clancy"/>
                <a:ea typeface="Clancy"/>
                <a:cs typeface="Clancy"/>
                <a:sym typeface="Clancy"/>
              </a:rPr>
              <a:t>We benchmark </a:t>
            </a:r>
            <a:r>
              <a:rPr lang="en-US" sz="1599" b="1" dirty="0">
                <a:solidFill>
                  <a:srgbClr val="FFDC00"/>
                </a:solidFill>
                <a:latin typeface="Clancy Bold"/>
                <a:ea typeface="Clancy Bold"/>
                <a:cs typeface="Clancy Bold"/>
                <a:sym typeface="Clancy Bold"/>
              </a:rPr>
              <a:t>9</a:t>
            </a:r>
            <a:r>
              <a:rPr lang="en-US" sz="1599" b="1" dirty="0">
                <a:solidFill>
                  <a:srgbClr val="FFFFFF"/>
                </a:solidFill>
                <a:latin typeface="Clancy Bold"/>
                <a:ea typeface="Clancy Bold"/>
                <a:cs typeface="Clancy Bold"/>
                <a:sym typeface="Clancy Bold"/>
              </a:rPr>
              <a:t> LLMs</a:t>
            </a:r>
          </a:p>
        </p:txBody>
      </p:sp>
      <p:sp>
        <p:nvSpPr>
          <p:cNvPr id="48" name="Freeform 48"/>
          <p:cNvSpPr/>
          <p:nvPr/>
        </p:nvSpPr>
        <p:spPr>
          <a:xfrm>
            <a:off x="0" y="8211496"/>
            <a:ext cx="7564677" cy="1643729"/>
          </a:xfrm>
          <a:custGeom>
            <a:avLst/>
            <a:gdLst/>
            <a:ahLst/>
            <a:cxnLst/>
            <a:rect l="l" t="t" r="r" b="b"/>
            <a:pathLst>
              <a:path w="2711010" h="589076">
                <a:moveTo>
                  <a:pt x="0" y="0"/>
                </a:moveTo>
                <a:lnTo>
                  <a:pt x="2711010" y="0"/>
                </a:lnTo>
                <a:lnTo>
                  <a:pt x="2711010" y="589076"/>
                </a:lnTo>
                <a:lnTo>
                  <a:pt x="0" y="589076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</p:sp>
      <p:sp>
        <p:nvSpPr>
          <p:cNvPr id="49" name="TextBox 49"/>
          <p:cNvSpPr txBox="1"/>
          <p:nvPr/>
        </p:nvSpPr>
        <p:spPr>
          <a:xfrm>
            <a:off x="0" y="8216188"/>
            <a:ext cx="7564680" cy="163904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Clancy"/>
                <a:ea typeface="Clancy"/>
                <a:cs typeface="Clancy"/>
                <a:sym typeface="Clancy"/>
              </a:rPr>
              <a:t>Potential Applications</a:t>
            </a:r>
          </a:p>
        </p:txBody>
      </p:sp>
      <p:sp>
        <p:nvSpPr>
          <p:cNvPr id="50" name="Freeform 50"/>
          <p:cNvSpPr/>
          <p:nvPr/>
        </p:nvSpPr>
        <p:spPr>
          <a:xfrm>
            <a:off x="500860" y="9082842"/>
            <a:ext cx="150293" cy="234374"/>
          </a:xfrm>
          <a:custGeom>
            <a:avLst/>
            <a:gdLst/>
            <a:ahLst/>
            <a:cxnLst/>
            <a:rect l="l" t="t" r="r" b="b"/>
            <a:pathLst>
              <a:path w="150293" h="234374">
                <a:moveTo>
                  <a:pt x="0" y="0"/>
                </a:moveTo>
                <a:lnTo>
                  <a:pt x="150292" y="0"/>
                </a:lnTo>
                <a:lnTo>
                  <a:pt x="150292" y="234374"/>
                </a:lnTo>
                <a:lnTo>
                  <a:pt x="0" y="234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449279" y="9411044"/>
            <a:ext cx="253454" cy="239831"/>
          </a:xfrm>
          <a:custGeom>
            <a:avLst/>
            <a:gdLst/>
            <a:ahLst/>
            <a:cxnLst/>
            <a:rect l="l" t="t" r="r" b="b"/>
            <a:pathLst>
              <a:path w="253454" h="239831">
                <a:moveTo>
                  <a:pt x="0" y="0"/>
                </a:moveTo>
                <a:lnTo>
                  <a:pt x="253454" y="0"/>
                </a:lnTo>
                <a:lnTo>
                  <a:pt x="253454" y="239831"/>
                </a:lnTo>
                <a:lnTo>
                  <a:pt x="0" y="2398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422646" y="8750922"/>
            <a:ext cx="306721" cy="238092"/>
          </a:xfrm>
          <a:custGeom>
            <a:avLst/>
            <a:gdLst/>
            <a:ahLst/>
            <a:cxnLst/>
            <a:rect l="l" t="t" r="r" b="b"/>
            <a:pathLst>
              <a:path w="306721" h="238092">
                <a:moveTo>
                  <a:pt x="0" y="0"/>
                </a:moveTo>
                <a:lnTo>
                  <a:pt x="306721" y="0"/>
                </a:lnTo>
                <a:lnTo>
                  <a:pt x="306721" y="238092"/>
                </a:lnTo>
                <a:lnTo>
                  <a:pt x="0" y="238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756000" y="8550615"/>
            <a:ext cx="6048000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Apart from 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Academic Research, 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BESSTIE can be used to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:</a:t>
            </a:r>
          </a:p>
          <a:p>
            <a:pPr algn="just">
              <a:lnSpc>
                <a:spcPts val="1200"/>
              </a:lnSpc>
            </a:pPr>
            <a:endParaRPr lang="en-US" sz="1200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924"/>
              </a:lnSpc>
            </a:pP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dialogue agents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that cater to requests made by 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diverse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users.</a:t>
            </a:r>
          </a:p>
          <a:p>
            <a:pPr algn="just">
              <a:lnSpc>
                <a:spcPts val="924"/>
              </a:lnSpc>
            </a:pPr>
            <a:endParaRPr lang="en-US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1080"/>
              </a:lnSpc>
            </a:pP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ocalise 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language models—what sounds 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sarcastic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 one country might not be in another.</a:t>
            </a:r>
          </a:p>
          <a:p>
            <a:pPr algn="just">
              <a:lnSpc>
                <a:spcPts val="924"/>
              </a:lnSpc>
            </a:pPr>
            <a:endParaRPr lang="en-US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1080"/>
              </a:lnSpc>
            </a:pP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Improve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social media monitoring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to prevent misinterpretation for </a:t>
            </a: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content moderation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55" name="Freeform 55"/>
          <p:cNvSpPr/>
          <p:nvPr/>
        </p:nvSpPr>
        <p:spPr>
          <a:xfrm>
            <a:off x="1758549" y="5618767"/>
            <a:ext cx="1759348" cy="1314360"/>
          </a:xfrm>
          <a:custGeom>
            <a:avLst/>
            <a:gdLst/>
            <a:ahLst/>
            <a:cxnLst/>
            <a:rect l="l" t="t" r="r" b="b"/>
            <a:pathLst>
              <a:path w="630511" h="471037">
                <a:moveTo>
                  <a:pt x="0" y="0"/>
                </a:moveTo>
                <a:lnTo>
                  <a:pt x="630511" y="0"/>
                </a:lnTo>
                <a:lnTo>
                  <a:pt x="630511" y="471037"/>
                </a:lnTo>
                <a:lnTo>
                  <a:pt x="0" y="47103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FFDC00"/>
            </a:solidFill>
            <a:prstDash val="solid"/>
            <a:miter/>
          </a:ln>
        </p:spPr>
      </p:sp>
      <p:sp>
        <p:nvSpPr>
          <p:cNvPr id="56" name="TextBox 56"/>
          <p:cNvSpPr txBox="1"/>
          <p:nvPr/>
        </p:nvSpPr>
        <p:spPr>
          <a:xfrm>
            <a:off x="1758549" y="5645345"/>
            <a:ext cx="1759348" cy="1287782"/>
          </a:xfrm>
          <a:prstGeom prst="rect">
            <a:avLst/>
          </a:prstGeom>
        </p:spPr>
        <p:txBody>
          <a:bodyPr lIns="50800" tIns="50800" rIns="50800" bIns="50800" rtlCol="0" anchor="b"/>
          <a:lstStyle/>
          <a:p>
            <a:pPr algn="r">
              <a:lnSpc>
                <a:spcPts val="1200"/>
              </a:lnSpc>
            </a:pPr>
            <a:r>
              <a:rPr lang="en-US" sz="1200" b="1">
                <a:solidFill>
                  <a:srgbClr val="FFDC00"/>
                </a:solidFill>
                <a:latin typeface="Clancy Bold"/>
                <a:ea typeface="Clancy Bold"/>
                <a:cs typeface="Clancy Bold"/>
                <a:sym typeface="Clancy Bold"/>
              </a:rPr>
              <a:t>Multilingual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870734" y="5635975"/>
            <a:ext cx="12831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mBERT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mDistilBERT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XLM-RoBERTa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09751" y="5635975"/>
            <a:ext cx="960983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BERT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DistilBERT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RoBERTa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94442" y="5470472"/>
            <a:ext cx="877607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i="1">
                <a:solidFill>
                  <a:srgbClr val="FFDC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6</a:t>
            </a:r>
            <a:r>
              <a:rPr lang="en-US" sz="1200" b="1" i="1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Encoders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870734" y="6427333"/>
            <a:ext cx="68699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Mistral</a:t>
            </a:r>
          </a:p>
          <a:p>
            <a:pPr algn="l">
              <a:lnSpc>
                <a:spcPts val="1800"/>
              </a:lnSpc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Qwen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09751" y="6511216"/>
            <a:ext cx="762298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+</a:t>
            </a:r>
            <a:r>
              <a:rPr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Gemma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6000" y="6316969"/>
            <a:ext cx="954490" cy="23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 b="1" i="1">
                <a:solidFill>
                  <a:srgbClr val="FFDC0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3</a:t>
            </a:r>
            <a:r>
              <a:rPr lang="en-US" sz="1200" b="1" i="1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Decoders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696180" y="9636465"/>
            <a:ext cx="1207074" cy="17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200">
                <a:solidFill>
                  <a:srgbClr val="FFFFFF"/>
                </a:solidFill>
                <a:latin typeface="Clancy Light"/>
                <a:ea typeface="Clancy Light"/>
                <a:cs typeface="Clancy Light"/>
                <a:sym typeface="Clancy Light"/>
              </a:rPr>
              <a:t>and many more...</a:t>
            </a:r>
          </a:p>
        </p:txBody>
      </p:sp>
      <p:sp>
        <p:nvSpPr>
          <p:cNvPr id="64" name="TextBox 64"/>
          <p:cNvSpPr txBox="1"/>
          <p:nvPr/>
        </p:nvSpPr>
        <p:spPr>
          <a:xfrm rot="-5400000">
            <a:off x="3642915" y="5258370"/>
            <a:ext cx="7658910" cy="17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0"/>
              </a:lnSpc>
              <a:spcBef>
                <a:spcPct val="0"/>
              </a:spcBef>
            </a:pPr>
            <a:r>
              <a:rPr lang="en-US" sz="900" b="1">
                <a:solidFill>
                  <a:srgbClr val="FFFFFF"/>
                </a:solidFill>
                <a:latin typeface="Clancy Bold"/>
                <a:ea typeface="Clancy Bold"/>
                <a:cs typeface="Clancy Bold"/>
                <a:sym typeface="Clancy Bold"/>
              </a:rPr>
              <a:t>Srirag, D., Joshi,</a:t>
            </a:r>
            <a:r>
              <a:rPr lang="en-US" sz="900" b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 </a:t>
            </a:r>
            <a:r>
              <a:rPr lang="en-US" sz="900" b="1">
                <a:solidFill>
                  <a:srgbClr val="FFFFFF"/>
                </a:solidFill>
                <a:latin typeface="Clancy Bold"/>
                <a:ea typeface="Clancy Bold"/>
                <a:cs typeface="Clancy Bold"/>
                <a:sym typeface="Clancy Bold"/>
              </a:rPr>
              <a:t>A</a:t>
            </a:r>
            <a:r>
              <a:rPr lang="en-US" sz="900" b="1">
                <a:solidFill>
                  <a:srgbClr val="000000"/>
                </a:solidFill>
                <a:latin typeface="Clancy Bold"/>
                <a:ea typeface="Clancy Bold"/>
                <a:cs typeface="Clancy Bold"/>
                <a:sym typeface="Clancy Bold"/>
              </a:rPr>
              <a:t>., Painter, J., Kanojia, D.</a:t>
            </a:r>
            <a:r>
              <a:rPr lang="en-US" sz="900">
                <a:solidFill>
                  <a:srgbClr val="FFFFFF"/>
                </a:solidFill>
                <a:latin typeface="Clancy Light"/>
                <a:ea typeface="Clancy Light"/>
                <a:cs typeface="Clancy Light"/>
                <a:sym typeface="Clancy Light"/>
              </a:rPr>
              <a:t> (2024). BESSTIE: A benchmark</a:t>
            </a:r>
            <a:r>
              <a:rPr lang="en-US" sz="900">
                <a:solidFill>
                  <a:srgbClr val="000000"/>
                </a:solidFill>
                <a:latin typeface="Clancy Light"/>
                <a:ea typeface="Clancy Light"/>
                <a:cs typeface="Clancy Light"/>
                <a:sym typeface="Clancy Light"/>
              </a:rPr>
              <a:t> for sentiment and sarcasm classification for varieties of English. </a:t>
            </a:r>
            <a:r>
              <a:rPr lang="en-US" sz="900" u="sng">
                <a:solidFill>
                  <a:srgbClr val="000000"/>
                </a:solidFill>
                <a:latin typeface="Clancy Light"/>
                <a:ea typeface="Clancy Light"/>
                <a:cs typeface="Clancy Light"/>
                <a:sym typeface="Clancy Light"/>
                <a:hlinkClick r:id="rId12" tooltip="https://arxiv.org/abs/2412.04726"/>
              </a:rPr>
              <a:t>arXiv.</a:t>
            </a:r>
          </a:p>
        </p:txBody>
      </p:sp>
      <p:sp>
        <p:nvSpPr>
          <p:cNvPr id="65" name="Freeform 65"/>
          <p:cNvSpPr/>
          <p:nvPr/>
        </p:nvSpPr>
        <p:spPr>
          <a:xfrm>
            <a:off x="199830" y="10197816"/>
            <a:ext cx="2357389" cy="355610"/>
          </a:xfrm>
          <a:custGeom>
            <a:avLst/>
            <a:gdLst/>
            <a:ahLst/>
            <a:cxnLst/>
            <a:rect l="l" t="t" r="r" b="b"/>
            <a:pathLst>
              <a:path w="2357389" h="355610">
                <a:moveTo>
                  <a:pt x="0" y="0"/>
                </a:moveTo>
                <a:lnTo>
                  <a:pt x="2357389" y="0"/>
                </a:lnTo>
                <a:lnTo>
                  <a:pt x="2357389" y="355609"/>
                </a:lnTo>
                <a:lnTo>
                  <a:pt x="0" y="3556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598" t="-92498" r="-3205" b="-68574"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199830" y="9946177"/>
            <a:ext cx="823912" cy="25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2"/>
              </a:lnSpc>
              <a:spcBef>
                <a:spcPct val="0"/>
              </a:spcBef>
            </a:pPr>
            <a:r>
              <a:rPr lang="en-US" sz="139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Funded by</a:t>
            </a:r>
          </a:p>
        </p:txBody>
      </p:sp>
      <p:sp>
        <p:nvSpPr>
          <p:cNvPr id="67" name="AutoShape 67"/>
          <p:cNvSpPr/>
          <p:nvPr/>
        </p:nvSpPr>
        <p:spPr>
          <a:xfrm>
            <a:off x="0" y="1365018"/>
            <a:ext cx="7564680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4365734" y="5700977"/>
          <a:ext cx="2536117" cy="1168995"/>
        </p:xfrm>
        <a:graphic>
          <a:graphicData uri="http://schemas.openxmlformats.org/drawingml/2006/table">
            <a:tbl>
              <a:tblPr/>
              <a:tblGrid>
                <a:gridCol w="951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799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Domain-Task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en-AU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en-IN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en-UK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799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GOOG-Sent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0.94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0.64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0.86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799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REDD-Sent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0.78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0.69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0.78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799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REDD-Sarc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0.62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0.56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0.58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799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Mean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0.78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0.63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0.74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D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" name="Table 69"/>
          <p:cNvGraphicFramePr>
            <a:graphicFrameLocks noGrp="1"/>
          </p:cNvGraphicFramePr>
          <p:nvPr/>
        </p:nvGraphicFramePr>
        <p:xfrm>
          <a:off x="4447590" y="3710571"/>
          <a:ext cx="2444737" cy="1447800"/>
        </p:xfrm>
        <a:graphic>
          <a:graphicData uri="http://schemas.openxmlformats.org/drawingml/2006/table">
            <a:tbl>
              <a:tblPr/>
              <a:tblGrid>
                <a:gridCol w="55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Variety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Subset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Train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Valid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lancy Bold"/>
                          <a:ea typeface="Clancy Bold"/>
                          <a:cs typeface="Clancy Bold"/>
                          <a:sym typeface="Clancy Bold"/>
                        </a:rPr>
                        <a:t>Test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en-AU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GOOG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946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130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270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en-AU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REDD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1763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241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501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en-IN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GOOG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1648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225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469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en-IN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REDD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1686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230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479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 row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en-UK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GOOG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1817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248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517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en-UK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REDD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1007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138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287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Total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Total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8867</a:t>
                      </a:r>
                      <a:endParaRPr lang="en-US" sz="11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1212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defRPr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Clancy"/>
                          <a:ea typeface="Clancy"/>
                          <a:cs typeface="Clancy"/>
                          <a:sym typeface="Clancy"/>
                        </a:rPr>
                        <a:t>2523</a:t>
                      </a:r>
                      <a:endParaRPr lang="en-US" sz="1100"/>
                    </a:p>
                  </a:txBody>
                  <a:tcPr marL="0" marR="0" marT="0" marB="0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BESSTIE</dc:title>
  <cp:revision>52</cp:revision>
  <dcterms:created xsi:type="dcterms:W3CDTF">2006-08-16T00:00:00Z</dcterms:created>
  <dcterms:modified xsi:type="dcterms:W3CDTF">2025-04-08T05:41:43Z</dcterms:modified>
  <dc:identifier>DAGfaUmQgUc</dc:identifier>
</cp:coreProperties>
</file>